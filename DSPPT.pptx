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
  </p:notesMasterIdLst>
  <p:sldIdLst>
    <p:sldId id="262" r:id="rId3"/>
    <p:sldId id="707" r:id="rId4"/>
    <p:sldId id="257" r:id="rId5"/>
    <p:sldId id="903" r:id="rId6"/>
    <p:sldId id="902" r:id="rId7"/>
    <p:sldId id="258" r:id="rId8"/>
    <p:sldId id="905" r:id="rId9"/>
    <p:sldId id="906" r:id="rId10"/>
    <p:sldId id="904" r:id="rId11"/>
    <p:sldId id="259"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F4340E-E7CA-4A44-B6EC-7868E5A48608}" v="1" dt="2026-09-18T03:36:02.929"/>
    <p1510:client id="{E46A9700-8A3B-45CF-AC6B-44727ECFB0A3}" v="10" dt="2026-09-18T03:12:21.7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94"/>
  </p:normalViewPr>
  <p:slideViewPr>
    <p:cSldViewPr snapToGrid="0">
      <p:cViewPr>
        <p:scale>
          <a:sx n="75" d="100"/>
          <a:sy n="75" d="100"/>
        </p:scale>
        <p:origin x="974"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ppara Sindhura" userId="162e5db15d63f54e" providerId="LiveId" clId="{1D143314-5367-4FF7-B451-E4CACBB61EDB}"/>
    <pc:docChg chg="modSld">
      <pc:chgData name="Kappara Sindhura" userId="162e5db15d63f54e" providerId="LiveId" clId="{1D143314-5367-4FF7-B451-E4CACBB61EDB}" dt="2026-09-18T03:36:19.860" v="20" actId="20577"/>
      <pc:docMkLst>
        <pc:docMk/>
      </pc:docMkLst>
      <pc:sldChg chg="modSp mod">
        <pc:chgData name="Kappara Sindhura" userId="162e5db15d63f54e" providerId="LiveId" clId="{1D143314-5367-4FF7-B451-E4CACBB61EDB}" dt="2026-09-18T03:36:19.860" v="20" actId="20577"/>
        <pc:sldMkLst>
          <pc:docMk/>
          <pc:sldMk cId="4118855268" sldId="260"/>
        </pc:sldMkLst>
        <pc:spChg chg="mod">
          <ac:chgData name="Kappara Sindhura" userId="162e5db15d63f54e" providerId="LiveId" clId="{1D143314-5367-4FF7-B451-E4CACBB61EDB}" dt="2026-09-18T03:36:11.368" v="2" actId="1076"/>
          <ac:spMkLst>
            <pc:docMk/>
            <pc:sldMk cId="4118855268" sldId="260"/>
            <ac:spMk id="3" creationId="{54236DEF-746E-F9E8-2661-19ABE1661FAC}"/>
          </ac:spMkLst>
        </pc:spChg>
        <pc:spChg chg="mod">
          <ac:chgData name="Kappara Sindhura" userId="162e5db15d63f54e" providerId="LiveId" clId="{1D143314-5367-4FF7-B451-E4CACBB61EDB}" dt="2026-09-18T03:36:19.860" v="20" actId="20577"/>
          <ac:spMkLst>
            <pc:docMk/>
            <pc:sldMk cId="4118855268" sldId="260"/>
            <ac:spMk id="5" creationId="{9EF7CE10-08D9-83CF-7508-12575531E1E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18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18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18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18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18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18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9/18/2026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18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136921918"/>
              </p:ext>
            </p:extLst>
          </p:nvPr>
        </p:nvGraphicFramePr>
        <p:xfrm>
          <a:off x="8441667" y="3770561"/>
          <a:ext cx="3702050" cy="3373648"/>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Name   </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V.ARJUN</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M.BHARATH</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K.SINDHURA</a:t>
                      </a:r>
                    </a:p>
                    <a:p>
                      <a:pPr marL="0" algn="ctr" defTabSz="914400" rtl="0" eaLnBrk="1" latinLnBrk="0" hangingPunct="1"/>
                      <a:endParaRPr lang="en-IN" sz="1600" b="1" kern="1200" dirty="0">
                        <a:solidFill>
                          <a:schemeClr val="dk1"/>
                        </a:solidFill>
                        <a:latin typeface="Times New Roman" panose="02020603050405020304" pitchFamily="18" charset="0"/>
                        <a:ea typeface="Cambria"/>
                        <a:cs typeface="Times New Roman" panose="02020603050405020304" pitchFamily="18" charset="0"/>
                      </a:endParaRPr>
                    </a:p>
                    <a:p>
                      <a:pPr marL="0" algn="l" defTabSz="914400" rtl="0" eaLnBrk="1" latinLnBrk="0" hangingPunct="1"/>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Roll Numbers: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24200301395</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24200301275</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2322420030142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29973071"/>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6039392"/>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Dr.PRATHUSHA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STUDENT PERFORMANCE CLASSIFICATION</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DATA SCIENCE (24AD3107)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D21D4DAA-BBEE-EC39-1872-E5AB5748C801}"/>
              </a:ext>
            </a:extLst>
          </p:cNvPr>
          <p:cNvSpPr txBox="1"/>
          <p:nvPr/>
        </p:nvSpPr>
        <p:spPr>
          <a:xfrm>
            <a:off x="1650124" y="1702677"/>
            <a:ext cx="8723586" cy="3693319"/>
          </a:xfrm>
          <a:prstGeom prst="rect">
            <a:avLst/>
          </a:prstGeom>
          <a:noFill/>
        </p:spPr>
        <p:txBody>
          <a:bodyPr wrap="square" rtlCol="0">
            <a:spAutoFit/>
          </a:bodyPr>
          <a:lstStyle/>
          <a:p>
            <a:pPr>
              <a:buFont typeface="Arial" panose="020B0604020202020204" pitchFamily="34" charset="0"/>
              <a:buChar char="•"/>
            </a:pPr>
            <a:endParaRPr lang="en-US" dirty="0"/>
          </a:p>
          <a:p>
            <a:pPr>
              <a:buFont typeface="Arial" panose="020B0604020202020204" pitchFamily="34" charset="0"/>
              <a:buChar char="•"/>
            </a:pPr>
            <a:r>
              <a:rPr lang="en-US" dirty="0"/>
              <a:t>Educational institutions possess large amounts of student data (academic records, attendance, demographics, and behavioral logs) but lack automated, data-driven systems for proactive academic support.</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Early identification of at-risk students remains difficult, leading to delayed interventions and lower retention rates.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Existing tools often rely solely on final examination marks rather than a holistic analysis of multifaceted student attributes.</a:t>
            </a:r>
          </a:p>
          <a:p>
            <a:endParaRPr lang="en-US" dirty="0"/>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63A6008D-3EC1-C215-FDA3-E1076286790C}"/>
              </a:ext>
            </a:extLst>
          </p:cNvPr>
          <p:cNvSpPr txBox="1"/>
          <p:nvPr/>
        </p:nvSpPr>
        <p:spPr>
          <a:xfrm>
            <a:off x="1019503" y="1115500"/>
            <a:ext cx="9385738" cy="4801314"/>
          </a:xfrm>
          <a:prstGeom prst="rect">
            <a:avLst/>
          </a:prstGeom>
          <a:noFill/>
        </p:spPr>
        <p:txBody>
          <a:bodyPr wrap="square" rtlCol="0">
            <a:spAutoFit/>
          </a:bodyPr>
          <a:lstStyle/>
          <a:p>
            <a:r>
              <a:rPr lang="en-US" b="1" dirty="0"/>
              <a:t>Data Preprocessing &amp; Cleaning:</a:t>
            </a:r>
            <a:r>
              <a:rPr lang="en-US" dirty="0"/>
              <a:t> Implement data validation, missing value imputation, duplicate removal, outlier detection, encoding, feature selection, and normalization.</a:t>
            </a:r>
          </a:p>
          <a:p>
            <a:endParaRPr lang="en-US" b="1" dirty="0"/>
          </a:p>
          <a:p>
            <a:endParaRPr lang="en-US" b="1" dirty="0"/>
          </a:p>
          <a:p>
            <a:r>
              <a:rPr lang="en-US" b="1" dirty="0"/>
              <a:t>Exploratory Data Analysis (EDA):</a:t>
            </a:r>
            <a:r>
              <a:rPr lang="en-US" dirty="0"/>
              <a:t> Perform EDA to discover key behavioral and socio-demographic indicators driving academic outcomes.</a:t>
            </a:r>
          </a:p>
          <a:p>
            <a:endParaRPr lang="en-US" b="1" dirty="0"/>
          </a:p>
          <a:p>
            <a:r>
              <a:rPr lang="en-US" b="1" dirty="0"/>
              <a:t>Multi-Model Implementation:</a:t>
            </a:r>
            <a:r>
              <a:rPr lang="en-US" dirty="0"/>
              <a:t> Construct and train multiple classification algorithms—K-Nearest Neighbors (KNN), Support Vector Machine (SVM), Decision Tree, Random Forest, and Artificial Neural Network (ANN).</a:t>
            </a:r>
          </a:p>
          <a:p>
            <a:endParaRPr lang="en-US" b="1" dirty="0"/>
          </a:p>
          <a:p>
            <a:r>
              <a:rPr lang="en-US" b="1" dirty="0"/>
              <a:t>Comparative Evaluation:</a:t>
            </a:r>
            <a:r>
              <a:rPr lang="en-US" dirty="0"/>
              <a:t> Assess performance across standard metrics: Accuracy, Precision, Recall, F1-Score, and Confusion Matrix.</a:t>
            </a:r>
          </a:p>
          <a:p>
            <a:endParaRPr lang="en-US" b="1" dirty="0"/>
          </a:p>
          <a:p>
            <a:r>
              <a:rPr lang="en-US" b="1" dirty="0"/>
              <a:t>Dashboard Deployment:</a:t>
            </a:r>
            <a:r>
              <a:rPr lang="en-US" dirty="0"/>
              <a:t> Deliver an interactive web platform for real-time risk assessment and decision support.</a:t>
            </a:r>
          </a:p>
          <a:p>
            <a:endParaRPr lang="en-US"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77704334"/>
              </p:ext>
            </p:extLst>
          </p:nvPr>
        </p:nvGraphicFramePr>
        <p:xfrm>
          <a:off x="281702" y="659746"/>
          <a:ext cx="11628593" cy="6614160"/>
        </p:xfrm>
        <a:graphic>
          <a:graphicData uri="http://schemas.openxmlformats.org/drawingml/2006/table">
            <a:tbl>
              <a:tblPr firstRow="1" bandRow="1">
                <a:tableStyleId>{BC89EF96-8CEA-46FF-86C4-4CE0E7609802}</a:tableStyleId>
              </a:tblPr>
              <a:tblGrid>
                <a:gridCol w="1074894">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54330">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837504">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Hilal et. al. [</a:t>
                      </a:r>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rPr>
                        <a:t>3</a:t>
                      </a: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a:t>
                      </a:r>
                    </a:p>
                  </a:txBody>
                  <a:tcPr/>
                </a:tc>
                <a:tc>
                  <a:txBody>
                    <a:bodyPr/>
                    <a:lstStyle/>
                    <a:p>
                      <a:r>
                        <a:rPr lang="en-IN" sz="1400" b="0" i="0" u="none" strike="noStrike" kern="1200" dirty="0">
                          <a:solidFill>
                            <a:srgbClr val="FF0000"/>
                          </a:solidFill>
                          <a:effectLst/>
                          <a:latin typeface="Times New Roman" panose="02020603050405020304" pitchFamily="18" charset="0"/>
                          <a:ea typeface="+mn-ea"/>
                          <a:cs typeface="Times New Roman" panose="02020603050405020304" pitchFamily="18" charset="0"/>
                        </a:rPr>
                        <a:t>Intelligent Epileptic Seizure Detection and Classification Model Using Optimal Deep Canonical Sparse Autoencoder,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Biology, 2022-mdpi</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Coyote optimization algorithm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(COA) for feature selection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Krill herd algorithm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(KHA) for parameter tuning</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intelligent deep canonical sparse autoencoder-based epileptic seizure detection and classification model using EEG signals. </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It achieves a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maximum</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accuracy</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of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98.67%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and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98.73%</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under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binary</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and </a:t>
                      </a:r>
                      <a:r>
                        <a:rPr lang="en-IN" sz="1400" b="1" i="0" kern="1200" dirty="0">
                          <a:solidFill>
                            <a:srgbClr val="FF0000"/>
                          </a:solidFill>
                          <a:effectLst/>
                          <a:latin typeface="Times New Roman" panose="02020603050405020304" pitchFamily="18" charset="0"/>
                          <a:ea typeface="+mn-ea"/>
                          <a:cs typeface="Times New Roman" panose="02020603050405020304" pitchFamily="18" charset="0"/>
                        </a:rPr>
                        <a:t>multi-classification,</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 respectively.</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The paper does not mention the specific limitations of the proposed </a:t>
                      </a:r>
                      <a:r>
                        <a:rPr lang="en-IN"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DCSAE-ESDC </a:t>
                      </a:r>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technique or the experimental analysis conducted using the benchmark epileptic seizure dataset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642617">
                <a:tc>
                  <a:txBody>
                    <a:bodyPr/>
                    <a:lstStyle/>
                    <a:p>
                      <a:pPr marL="0" algn="l" defTabSz="914400" rtl="0" eaLnBrk="1" latinLnBrk="0" hangingPunct="1"/>
                      <a:r>
                        <a:rPr lang="en-IN" sz="1400" dirty="0">
                          <a:solidFill>
                            <a:srgbClr val="FF0000"/>
                          </a:solidFill>
                        </a:rPr>
                        <a:t>Harikumar </a:t>
                      </a:r>
                      <a:r>
                        <a:rPr lang="en-IN" sz="1400" dirty="0" err="1">
                          <a:solidFill>
                            <a:srgbClr val="FF0000"/>
                          </a:solidFill>
                        </a:rPr>
                        <a:t>Pallathadka</a:t>
                      </a:r>
                      <a:r>
                        <a:rPr lang="en-IN" sz="1400" dirty="0">
                          <a:solidFill>
                            <a:srgbClr val="FF0000"/>
                          </a:solidFill>
                        </a:rPr>
                        <a:t>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solidFill>
                            <a:srgbClr val="FF0000"/>
                          </a:solidFill>
                        </a:rPr>
                        <a:t>Classification and Prediction of Student Performance Data Using Various Machine Learning Algorithms</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lvl="0"/>
                      <a:r>
                        <a:rPr lang="en-IN" sz="1400" dirty="0">
                          <a:solidFill>
                            <a:srgbClr val="FF0000"/>
                          </a:solidFill>
                        </a:rPr>
                        <a:t>Uses </a:t>
                      </a:r>
                      <a:r>
                        <a:rPr lang="en-IN" sz="1400" b="1" dirty="0">
                          <a:solidFill>
                            <a:srgbClr val="FF0000"/>
                          </a:solidFill>
                        </a:rPr>
                        <a:t>Naive Bayes</a:t>
                      </a:r>
                      <a:r>
                        <a:rPr lang="en-IN" sz="1400" dirty="0">
                          <a:solidFill>
                            <a:srgbClr val="FF0000"/>
                          </a:solidFill>
                        </a:rPr>
                        <a:t> </a:t>
                      </a:r>
                    </a:p>
                    <a:p>
                      <a:pPr lvl="0"/>
                      <a:r>
                        <a:rPr lang="en-IN" sz="1400" b="1" dirty="0">
                          <a:solidFill>
                            <a:srgbClr val="FF0000"/>
                          </a:solidFill>
                        </a:rPr>
                        <a:t>ID3</a:t>
                      </a:r>
                      <a:r>
                        <a:rPr lang="en-IN" sz="1400" dirty="0">
                          <a:solidFill>
                            <a:srgbClr val="FF0000"/>
                          </a:solidFill>
                        </a:rPr>
                        <a:t> </a:t>
                      </a:r>
                    </a:p>
                    <a:p>
                      <a:pPr lvl="0"/>
                      <a:r>
                        <a:rPr lang="en-IN" sz="1400" b="1" dirty="0">
                          <a:solidFill>
                            <a:srgbClr val="FF0000"/>
                          </a:solidFill>
                        </a:rPr>
                        <a:t>C4.5</a:t>
                      </a:r>
                      <a:r>
                        <a:rPr lang="en-IN" sz="1400" dirty="0">
                          <a:solidFill>
                            <a:srgbClr val="FF0000"/>
                          </a:solidFill>
                        </a:rPr>
                        <a:t> </a:t>
                      </a:r>
                    </a:p>
                    <a:p>
                      <a:pPr lvl="0"/>
                      <a:r>
                        <a:rPr lang="en-IN" sz="1400" b="1" dirty="0">
                          <a:solidFill>
                            <a:srgbClr val="FF0000"/>
                          </a:solidFill>
                        </a:rPr>
                        <a:t>Support Vector Machine (SVM)</a:t>
                      </a:r>
                      <a:endParaRPr lang="en-IN" sz="1400" dirty="0">
                        <a:solidFill>
                          <a:srgbClr val="FF0000"/>
                        </a:solidFill>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rPr>
                        <a:t>The study demonstrates that machine-learning classification algorithms can be used to classify and predict student performance. It compares multiple algorithms to determine their performance on educational data.</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The study uses a particular student-performance dataset, so the results may not directly generalize to every institution or student population.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2227278">
                <a:tc>
                  <a:txBody>
                    <a:bodyPr/>
                    <a:lstStyle/>
                    <a:p>
                      <a:pPr marL="0" algn="l" defTabSz="914400" rtl="0" eaLnBrk="1" latinLnBrk="0" hangingPunct="1"/>
                      <a:r>
                        <a:rPr lang="en-IN" sz="1400" dirty="0">
                          <a:solidFill>
                            <a:srgbClr val="FF0000"/>
                          </a:solidFill>
                        </a:rPr>
                        <a:t>Sami </a:t>
                      </a:r>
                      <a:r>
                        <a:rPr lang="en-IN" sz="1400" dirty="0" err="1">
                          <a:solidFill>
                            <a:srgbClr val="FF0000"/>
                          </a:solidFill>
                        </a:rPr>
                        <a:t>Dhahbi</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solidFill>
                            <a:srgbClr val="FF0000"/>
                          </a:solidFill>
                        </a:rPr>
                        <a:t>False-positive reduction in computer-aided mass detection using mammographic texture analysis and classification</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lvl="0"/>
                      <a:r>
                        <a:rPr lang="en-IN" sz="1400" b="1" dirty="0">
                          <a:solidFill>
                            <a:srgbClr val="FF0000"/>
                          </a:solidFill>
                        </a:rPr>
                        <a:t>Hilbert's image representation</a:t>
                      </a:r>
                      <a:r>
                        <a:rPr lang="en-IN" sz="1400" dirty="0">
                          <a:solidFill>
                            <a:srgbClr val="FF0000"/>
                          </a:solidFill>
                        </a:rPr>
                        <a:t> </a:t>
                      </a:r>
                    </a:p>
                    <a:p>
                      <a:pPr lvl="0"/>
                      <a:r>
                        <a:rPr lang="en-IN" sz="1400" b="1" dirty="0">
                          <a:solidFill>
                            <a:srgbClr val="FF0000"/>
                          </a:solidFill>
                        </a:rPr>
                        <a:t>Kolmogorov-Smirnov distance</a:t>
                      </a:r>
                      <a:r>
                        <a:rPr lang="en-IN" sz="1400" dirty="0">
                          <a:solidFill>
                            <a:srgbClr val="FF0000"/>
                          </a:solidFill>
                        </a:rPr>
                        <a:t> </a:t>
                      </a:r>
                    </a:p>
                    <a:p>
                      <a:pPr lvl="0"/>
                      <a:r>
                        <a:rPr lang="en-IN" sz="1400" b="1" dirty="0">
                          <a:solidFill>
                            <a:srgbClr val="FF0000"/>
                          </a:solidFill>
                        </a:rPr>
                        <a:t>Maximum sub-region descriptors</a:t>
                      </a:r>
                      <a:r>
                        <a:rPr lang="en-IN" sz="1400" dirty="0">
                          <a:solidFill>
                            <a:srgbClr val="FF0000"/>
                          </a:solidFill>
                        </a:rPr>
                        <a:t> </a:t>
                      </a:r>
                    </a:p>
                    <a:p>
                      <a:pPr lvl="0"/>
                      <a:r>
                        <a:rPr lang="en-IN" sz="1400" b="1" dirty="0">
                          <a:solidFill>
                            <a:srgbClr val="FF0000"/>
                          </a:solidFill>
                        </a:rPr>
                        <a:t>Fractal texture features</a:t>
                      </a:r>
                      <a:r>
                        <a:rPr lang="en-IN" sz="1400" dirty="0">
                          <a:solidFill>
                            <a:srgbClr val="FF0000"/>
                          </a:solidFill>
                        </a:rPr>
                        <a:t> </a:t>
                      </a:r>
                    </a:p>
                    <a:p>
                      <a:pPr lvl="0"/>
                      <a:r>
                        <a:rPr lang="en-IN" sz="1400" b="1" dirty="0">
                          <a:solidFill>
                            <a:srgbClr val="FF0000"/>
                          </a:solidFill>
                        </a:rPr>
                        <a:t>GLCM (Gray-Level Co-occurrence Matrix)</a:t>
                      </a:r>
                      <a:endParaRPr lang="en-IN" sz="1400" dirty="0">
                        <a:solidFill>
                          <a:srgbClr val="FF0000"/>
                        </a:solidFill>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lvl="0"/>
                      <a:r>
                        <a:rPr lang="en-IN" sz="1400" dirty="0">
                          <a:solidFill>
                            <a:srgbClr val="FF0000"/>
                          </a:solidFill>
                        </a:rPr>
                        <a:t>Combining different texture features improved classification compared with using individual feature sets. </a:t>
                      </a:r>
                    </a:p>
                    <a:p>
                      <a:pPr lvl="0"/>
                      <a:r>
                        <a:rPr lang="en-IN" sz="1400" dirty="0">
                          <a:solidFill>
                            <a:srgbClr val="FF0000"/>
                          </a:solidFill>
                        </a:rPr>
                        <a:t>Feature selection improved accuracy. </a:t>
                      </a:r>
                    </a:p>
                    <a:p>
                      <a:pPr lvl="0"/>
                      <a:r>
                        <a:rPr lang="en-IN" sz="1400" b="1" dirty="0">
                          <a:solidFill>
                            <a:srgbClr val="FF0000"/>
                          </a:solidFill>
                        </a:rPr>
                        <a:t>Random Forest achieved 81.09% accuracy</a:t>
                      </a:r>
                      <a:r>
                        <a:rPr lang="en-IN" sz="1400" dirty="0">
                          <a:solidFill>
                            <a:srgbClr val="FF0000"/>
                          </a:solidFill>
                        </a:rPr>
                        <a:t>, compared with 80.01% for SVM and 79.12% for Decision Tree.</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solidFill>
                            <a:srgbClr val="FF0000"/>
                          </a:solidFill>
                        </a:rPr>
                        <a:t>The method focuses specifically on </a:t>
                      </a:r>
                      <a:r>
                        <a:rPr lang="en-IN" sz="1400" b="1" dirty="0">
                          <a:solidFill>
                            <a:srgbClr val="FF0000"/>
                          </a:solidFill>
                        </a:rPr>
                        <a:t>false-positive reduction</a:t>
                      </a:r>
                      <a:r>
                        <a:rPr lang="en-IN" sz="1400" dirty="0">
                          <a:solidFill>
                            <a:srgbClr val="FF0000"/>
                          </a:solidFill>
                        </a:rPr>
                        <a:t>, not the complete mammogram detection process.</a:t>
                      </a:r>
                      <a:endPar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1B0364E9-23CE-74A4-0A5E-BBD8644A7E13}"/>
              </a:ext>
            </a:extLst>
          </p:cNvPr>
          <p:cNvSpPr txBox="1"/>
          <p:nvPr/>
        </p:nvSpPr>
        <p:spPr>
          <a:xfrm>
            <a:off x="1135118" y="1650124"/>
            <a:ext cx="9595944" cy="3970318"/>
          </a:xfrm>
          <a:prstGeom prst="rect">
            <a:avLst/>
          </a:prstGeom>
          <a:noFill/>
        </p:spPr>
        <p:txBody>
          <a:bodyPr wrap="square" rtlCol="0">
            <a:spAutoFit/>
          </a:bodyPr>
          <a:lstStyle/>
          <a:p>
            <a:r>
              <a:rPr lang="en-US" b="1" dirty="0"/>
              <a:t>Lack of Multidimensional Feature Integration:</a:t>
            </a:r>
            <a:r>
              <a:rPr lang="en-US" dirty="0"/>
              <a:t> Existing models focus primarily on academic scores, underutilizing behavioral, engagement, and demographic factors.</a:t>
            </a:r>
          </a:p>
          <a:p>
            <a:endParaRPr lang="en-US" b="1" dirty="0"/>
          </a:p>
          <a:p>
            <a:r>
              <a:rPr lang="en-US" b="1" dirty="0"/>
              <a:t>Inadequate Data Pipeline Standardization:</a:t>
            </a:r>
            <a:r>
              <a:rPr lang="en-US" dirty="0"/>
              <a:t> Literature often omits comprehensive preprocessing pipelines (handling missing values, encoding, scaling, outlier handling), leading to model overfitting.</a:t>
            </a:r>
          </a:p>
          <a:p>
            <a:endParaRPr lang="en-US" b="1" dirty="0"/>
          </a:p>
          <a:p>
            <a:r>
              <a:rPr lang="en-US" b="1" dirty="0"/>
              <a:t>Limited Comparative Baselines:</a:t>
            </a:r>
            <a:r>
              <a:rPr lang="en-US" dirty="0"/>
              <a:t> Many studies evaluate only one or two algorithms, failing to benchmark traditional algorithms (KNN, Decision Trees) against deep learning architectures (ANN).</a:t>
            </a:r>
          </a:p>
          <a:p>
            <a:endParaRPr lang="en-US" b="1" dirty="0"/>
          </a:p>
          <a:p>
            <a:r>
              <a:rPr lang="en-US" b="1" dirty="0"/>
              <a:t>Absence of Actionable Deployment:</a:t>
            </a:r>
            <a:r>
              <a:rPr lang="en-US" dirty="0"/>
              <a:t> Most research ends at offline model metrics without delivering interactive dashboards for non-technical academic stakeholders.</a:t>
            </a:r>
          </a:p>
          <a:p>
            <a:endParaRPr lang="en-US" dirty="0"/>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0D45F8E-833A-2506-418B-62D9189AA63C}"/>
              </a:ext>
            </a:extLst>
          </p:cNvPr>
          <p:cNvSpPr txBox="1"/>
          <p:nvPr/>
        </p:nvSpPr>
        <p:spPr>
          <a:xfrm>
            <a:off x="147484" y="265471"/>
            <a:ext cx="9454208" cy="5170646"/>
          </a:xfrm>
          <a:prstGeom prst="rect">
            <a:avLst/>
          </a:prstGeom>
          <a:noFill/>
        </p:spPr>
        <p:txBody>
          <a:bodyPr wrap="square" rtlCol="0">
            <a:spAutoFit/>
          </a:bodyPr>
          <a:lstStyle/>
          <a:p>
            <a:pPr algn="ctr"/>
            <a:r>
              <a:rPr lang="en-IN" sz="2400" b="1" dirty="0"/>
              <a:t>Methodology</a:t>
            </a:r>
          </a:p>
          <a:p>
            <a:pPr lvl="0"/>
            <a:r>
              <a:rPr lang="en-IN" b="1" dirty="0"/>
              <a:t>Data Collection</a:t>
            </a:r>
            <a:br>
              <a:rPr lang="en-IN" dirty="0"/>
            </a:br>
            <a:r>
              <a:rPr lang="en-IN" dirty="0"/>
              <a:t>Collect a structured student dataset containing academic, demographic, and </a:t>
            </a:r>
            <a:r>
              <a:rPr lang="en-IN" dirty="0" err="1"/>
              <a:t>behavioral</a:t>
            </a:r>
            <a:r>
              <a:rPr lang="en-IN" dirty="0"/>
              <a:t> attributes along with the student performance category.</a:t>
            </a:r>
          </a:p>
          <a:p>
            <a:pPr lvl="0"/>
            <a:r>
              <a:rPr lang="en-IN" b="1" dirty="0"/>
              <a:t>Data Preprocessing</a:t>
            </a:r>
            <a:br>
              <a:rPr lang="en-IN" dirty="0"/>
            </a:br>
            <a:r>
              <a:rPr lang="en-IN" dirty="0"/>
              <a:t>Clean and prepare the dataset by validating the data, handling missing values, removing duplicate records, detecting outliers, encoding categorical variables, and scaling numerical features.</a:t>
            </a:r>
          </a:p>
          <a:p>
            <a:pPr lvl="0"/>
            <a:r>
              <a:rPr lang="en-IN" b="1" dirty="0"/>
              <a:t>Feature Selection</a:t>
            </a:r>
            <a:br>
              <a:rPr lang="en-IN" dirty="0"/>
            </a:br>
            <a:r>
              <a:rPr lang="en-IN" dirty="0"/>
              <a:t>Identify the relevant features that contribute to predicting student performance and separate the input features from the target performance category.</a:t>
            </a:r>
          </a:p>
          <a:p>
            <a:pPr lvl="0"/>
            <a:r>
              <a:rPr lang="en-IN" b="1" dirty="0"/>
              <a:t>Exploratory Data Analysis (EDA)</a:t>
            </a:r>
            <a:br>
              <a:rPr lang="en-IN" dirty="0"/>
            </a:br>
            <a:r>
              <a:rPr lang="en-IN" dirty="0" err="1"/>
              <a:t>Analyze</a:t>
            </a:r>
            <a:r>
              <a:rPr lang="en-IN" dirty="0"/>
              <a:t> the dataset using statistical methods and visualizations to identify patterns, relationships, distributions, and factors related to student performance.</a:t>
            </a:r>
          </a:p>
          <a:p>
            <a:pPr lvl="0"/>
            <a:r>
              <a:rPr lang="en-IN" b="1" dirty="0"/>
              <a:t>Train-Test Split</a:t>
            </a:r>
            <a:br>
              <a:rPr lang="en-IN" dirty="0"/>
            </a:br>
            <a:r>
              <a:rPr lang="en-IN" dirty="0"/>
              <a:t>Divide the processed dataset into training and testing subsets. The training data is used to build the models, while the testing data is used to evaluate their performance on unseen data.</a:t>
            </a:r>
          </a:p>
          <a:p>
            <a:endParaRPr lang="en-IN" dirty="0"/>
          </a:p>
        </p:txBody>
      </p:sp>
    </p:spTree>
    <p:extLst>
      <p:ext uri="{BB962C8B-B14F-4D97-AF65-F5344CB8AC3E}">
        <p14:creationId xmlns:p14="http://schemas.microsoft.com/office/powerpoint/2010/main" val="3696636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D8CA0A-123A-88E5-A026-A48C64F4C33F}"/>
              </a:ext>
            </a:extLst>
          </p:cNvPr>
          <p:cNvSpPr txBox="1"/>
          <p:nvPr/>
        </p:nvSpPr>
        <p:spPr>
          <a:xfrm>
            <a:off x="343697" y="260718"/>
            <a:ext cx="11992770" cy="6740307"/>
          </a:xfrm>
          <a:prstGeom prst="rect">
            <a:avLst/>
          </a:prstGeom>
          <a:noFill/>
        </p:spPr>
        <p:txBody>
          <a:bodyPr wrap="none" rtlCol="0">
            <a:spAutoFit/>
          </a:bodyPr>
          <a:lstStyle/>
          <a:p>
            <a:pPr lvl="1"/>
            <a:endParaRPr lang="en-IN" dirty="0"/>
          </a:p>
          <a:p>
            <a:pPr lvl="0"/>
            <a:r>
              <a:rPr lang="en-IN" b="1" dirty="0"/>
              <a:t>Model Development</a:t>
            </a:r>
            <a:br>
              <a:rPr lang="en-IN" dirty="0"/>
            </a:br>
            <a:r>
              <a:rPr lang="en-IN" dirty="0"/>
              <a:t>Implement and train five classification algorithms:</a:t>
            </a:r>
          </a:p>
          <a:p>
            <a:pPr lvl="1"/>
            <a:r>
              <a:rPr lang="en-IN" dirty="0"/>
              <a:t>K-Nearest </a:t>
            </a:r>
            <a:r>
              <a:rPr lang="en-IN" dirty="0" err="1"/>
              <a:t>Neighbors</a:t>
            </a:r>
            <a:r>
              <a:rPr lang="en-IN" dirty="0"/>
              <a:t> (KNN)</a:t>
            </a:r>
          </a:p>
          <a:p>
            <a:pPr lvl="1"/>
            <a:r>
              <a:rPr lang="en-IN" dirty="0"/>
              <a:t>Support Vector Machine (SVM)</a:t>
            </a:r>
          </a:p>
          <a:p>
            <a:pPr lvl="1"/>
            <a:r>
              <a:rPr lang="en-IN" dirty="0"/>
              <a:t>Decision Tree</a:t>
            </a:r>
          </a:p>
          <a:p>
            <a:pPr lvl="1"/>
            <a:r>
              <a:rPr lang="en-IN" dirty="0"/>
              <a:t>Random Forest</a:t>
            </a:r>
          </a:p>
          <a:p>
            <a:pPr lvl="1"/>
            <a:r>
              <a:rPr lang="en-IN" dirty="0"/>
              <a:t>Artificial Neural Network (ANN)</a:t>
            </a:r>
          </a:p>
          <a:p>
            <a:pPr lvl="1"/>
            <a:endParaRPr lang="en-IN" dirty="0"/>
          </a:p>
          <a:p>
            <a:pPr lvl="0"/>
            <a:r>
              <a:rPr lang="en-IN" b="1" dirty="0"/>
              <a:t>Performance Prediction</a:t>
            </a:r>
            <a:br>
              <a:rPr lang="en-IN" dirty="0"/>
            </a:br>
            <a:r>
              <a:rPr lang="en-IN" dirty="0"/>
              <a:t>Use the trained models to classify students into their respective performance categories.</a:t>
            </a:r>
          </a:p>
          <a:p>
            <a:pPr lvl="0"/>
            <a:r>
              <a:rPr lang="en-IN" b="1" dirty="0"/>
              <a:t>Model Evaluation</a:t>
            </a:r>
            <a:br>
              <a:rPr lang="en-IN" dirty="0"/>
            </a:br>
            <a:r>
              <a:rPr lang="en-IN" dirty="0"/>
              <a:t>Evaluate each model using:</a:t>
            </a:r>
          </a:p>
          <a:p>
            <a:pPr lvl="1"/>
            <a:r>
              <a:rPr lang="en-IN" dirty="0"/>
              <a:t>Accuracy</a:t>
            </a:r>
          </a:p>
          <a:p>
            <a:pPr lvl="1"/>
            <a:r>
              <a:rPr lang="en-IN" dirty="0"/>
              <a:t>Precision</a:t>
            </a:r>
          </a:p>
          <a:p>
            <a:pPr lvl="1"/>
            <a:r>
              <a:rPr lang="en-IN" dirty="0"/>
              <a:t>Recall</a:t>
            </a:r>
          </a:p>
          <a:p>
            <a:pPr lvl="1"/>
            <a:r>
              <a:rPr lang="en-IN" dirty="0"/>
              <a:t>F1-Score</a:t>
            </a:r>
          </a:p>
          <a:p>
            <a:pPr lvl="1"/>
            <a:r>
              <a:rPr lang="en-IN" dirty="0"/>
              <a:t>Confusion Matrix</a:t>
            </a:r>
          </a:p>
          <a:p>
            <a:pPr lvl="0"/>
            <a:r>
              <a:rPr lang="en-IN" b="1" dirty="0"/>
              <a:t>Model Comparison</a:t>
            </a:r>
            <a:br>
              <a:rPr lang="en-IN" dirty="0"/>
            </a:br>
            <a:r>
              <a:rPr lang="en-IN" dirty="0"/>
              <a:t>Compare the performance of all five algorithms using the evaluation metrics to understand their </a:t>
            </a:r>
            <a:r>
              <a:rPr lang="en-IN" dirty="0" err="1"/>
              <a:t>behavior</a:t>
            </a:r>
            <a:endParaRPr lang="en-IN"/>
          </a:p>
          <a:p>
            <a:pPr lvl="0"/>
            <a:r>
              <a:rPr lang="en-IN"/>
              <a:t> </a:t>
            </a:r>
            <a:r>
              <a:rPr lang="en-IN" dirty="0"/>
              <a:t>on the student dataset.</a:t>
            </a:r>
          </a:p>
          <a:p>
            <a:pPr lvl="0"/>
            <a:r>
              <a:rPr lang="en-IN" b="1" dirty="0"/>
              <a:t>Visualization and Dashboard</a:t>
            </a:r>
            <a:br>
              <a:rPr lang="en-IN" dirty="0"/>
            </a:br>
            <a:r>
              <a:rPr lang="en-IN" dirty="0"/>
              <a:t>Present the predictions, model performance, and analysis results through graphs, charts, and an interactive dashboard.</a:t>
            </a:r>
          </a:p>
          <a:p>
            <a:endParaRPr lang="en-IN" dirty="0"/>
          </a:p>
        </p:txBody>
      </p:sp>
    </p:spTree>
    <p:extLst>
      <p:ext uri="{BB962C8B-B14F-4D97-AF65-F5344CB8AC3E}">
        <p14:creationId xmlns:p14="http://schemas.microsoft.com/office/powerpoint/2010/main" val="2761650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AB6214-E032-A701-B47F-498564B4FE50}"/>
              </a:ext>
            </a:extLst>
          </p:cNvPr>
          <p:cNvSpPr txBox="1"/>
          <p:nvPr/>
        </p:nvSpPr>
        <p:spPr>
          <a:xfrm>
            <a:off x="8248820" y="314632"/>
            <a:ext cx="3417154" cy="584775"/>
          </a:xfrm>
          <a:prstGeom prst="rect">
            <a:avLst/>
          </a:prstGeom>
          <a:noFill/>
        </p:spPr>
        <p:txBody>
          <a:bodyPr wrap="none" rtlCol="0">
            <a:spAutoFit/>
          </a:bodyPr>
          <a:lstStyle/>
          <a:p>
            <a:r>
              <a:rPr lang="en-IN" sz="3200" b="1" dirty="0"/>
              <a:t>PROJECT DESIGN</a:t>
            </a:r>
          </a:p>
        </p:txBody>
      </p:sp>
      <p:pic>
        <p:nvPicPr>
          <p:cNvPr id="6" name="Picture 5">
            <a:extLst>
              <a:ext uri="{FF2B5EF4-FFF2-40B4-BE49-F238E27FC236}">
                <a16:creationId xmlns:a16="http://schemas.microsoft.com/office/drawing/2014/main" id="{B37DFA54-CCF2-48F4-A880-EA74A5AE92E0}"/>
              </a:ext>
            </a:extLst>
          </p:cNvPr>
          <p:cNvPicPr>
            <a:picLocks noChangeAspect="1"/>
          </p:cNvPicPr>
          <p:nvPr/>
        </p:nvPicPr>
        <p:blipFill>
          <a:blip r:embed="rId2"/>
          <a:stretch>
            <a:fillRect/>
          </a:stretch>
        </p:blipFill>
        <p:spPr>
          <a:xfrm>
            <a:off x="526026" y="0"/>
            <a:ext cx="5953432" cy="6857999"/>
          </a:xfrm>
          <a:prstGeom prst="rect">
            <a:avLst/>
          </a:prstGeom>
        </p:spPr>
      </p:pic>
    </p:spTree>
    <p:extLst>
      <p:ext uri="{BB962C8B-B14F-4D97-AF65-F5344CB8AC3E}">
        <p14:creationId xmlns:p14="http://schemas.microsoft.com/office/powerpoint/2010/main" val="3973432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2C0F248-1A5C-76A6-129E-2156AE13FA2A}"/>
              </a:ext>
            </a:extLst>
          </p:cNvPr>
          <p:cNvSpPr txBox="1"/>
          <p:nvPr/>
        </p:nvSpPr>
        <p:spPr>
          <a:xfrm>
            <a:off x="1166648" y="1582340"/>
            <a:ext cx="9448800" cy="3693319"/>
          </a:xfrm>
          <a:prstGeom prst="rect">
            <a:avLst/>
          </a:prstGeom>
          <a:noFill/>
        </p:spPr>
        <p:txBody>
          <a:bodyPr wrap="square" rtlCol="0">
            <a:spAutoFit/>
          </a:bodyPr>
          <a:lstStyle/>
          <a:p>
            <a:r>
              <a:rPr lang="en-US" b="1" dirty="0"/>
              <a:t>Holistic Data Engineering:</a:t>
            </a:r>
            <a:r>
              <a:rPr lang="en-US" dirty="0"/>
              <a:t> Integrates academic, demographic, and behavioral features into an automated, reusable preprocessing pipeline.</a:t>
            </a:r>
          </a:p>
          <a:p>
            <a:endParaRPr lang="en-US" b="1" dirty="0"/>
          </a:p>
          <a:p>
            <a:r>
              <a:rPr lang="en-US" b="1" dirty="0"/>
              <a:t>Multi-Algorithm Benchmarking:</a:t>
            </a:r>
            <a:r>
              <a:rPr lang="en-US" dirty="0"/>
              <a:t> Directly compares classical ML models (KNN, SVM, Decision Tree, Random Forest) with an Artificial Neural Network (ANN) on the same standardized dataset.</a:t>
            </a:r>
          </a:p>
          <a:p>
            <a:endParaRPr lang="en-US" b="1" dirty="0"/>
          </a:p>
          <a:p>
            <a:r>
              <a:rPr lang="en-US" b="1" dirty="0"/>
              <a:t>Comprehensive Metrics Suite:</a:t>
            </a:r>
            <a:r>
              <a:rPr lang="en-US" dirty="0"/>
              <a:t> Evaluates models beyond simple accuracy, focusing on Precision, Recall, F1-Score, and Confusion Matrices to minimize false negatives (misclassifying at-risk students).</a:t>
            </a:r>
          </a:p>
          <a:p>
            <a:endParaRPr lang="en-US" b="1" dirty="0"/>
          </a:p>
          <a:p>
            <a:r>
              <a:rPr lang="en-US" b="1" dirty="0"/>
              <a:t>Interactive Decision Support System:</a:t>
            </a:r>
            <a:r>
              <a:rPr lang="en-US" dirty="0"/>
              <a:t> Features a dashboard that translates model predictions into visual insights for educators to enable timely intervention.</a:t>
            </a:r>
          </a:p>
        </p:txBody>
      </p:sp>
    </p:spTree>
    <p:extLst>
      <p:ext uri="{BB962C8B-B14F-4D97-AF65-F5344CB8AC3E}">
        <p14:creationId xmlns:p14="http://schemas.microsoft.com/office/powerpoint/2010/main" val="3524135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478993" y="114178"/>
            <a:ext cx="7234014" cy="707886"/>
          </a:xfrm>
          <a:prstGeom prst="rect">
            <a:avLst/>
          </a:prstGeom>
          <a:noFill/>
        </p:spPr>
        <p:txBody>
          <a:bodyPr wrap="square">
            <a:spAutoFit/>
          </a:bodyPr>
          <a:lstStyle/>
          <a:p>
            <a:pPr algn="ctr"/>
            <a:r>
              <a:rPr lang="en-US" sz="4000" b="1"/>
              <a:t>Feasibility</a:t>
            </a:r>
            <a:endParaRPr lang="en-US" sz="4000" b="1" dirty="0"/>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TextBox 2">
            <a:extLst>
              <a:ext uri="{FF2B5EF4-FFF2-40B4-BE49-F238E27FC236}">
                <a16:creationId xmlns:a16="http://schemas.microsoft.com/office/drawing/2014/main" id="{54236DEF-746E-F9E8-2661-19ABE1661FAC}"/>
              </a:ext>
            </a:extLst>
          </p:cNvPr>
          <p:cNvSpPr txBox="1"/>
          <p:nvPr/>
        </p:nvSpPr>
        <p:spPr>
          <a:xfrm>
            <a:off x="794231" y="1024351"/>
            <a:ext cx="8429297" cy="5909310"/>
          </a:xfrm>
          <a:prstGeom prst="rect">
            <a:avLst/>
          </a:prstGeom>
          <a:noFill/>
        </p:spPr>
        <p:txBody>
          <a:bodyPr wrap="square" rtlCol="0">
            <a:spAutoFit/>
          </a:bodyPr>
          <a:lstStyle/>
          <a:p>
            <a:r>
              <a:rPr lang="en-IN" b="1" dirty="0"/>
              <a:t>1. Technical Feasibility</a:t>
            </a:r>
          </a:p>
          <a:p>
            <a:pPr lvl="0"/>
            <a:r>
              <a:rPr lang="en-IN" dirty="0"/>
              <a:t>Python-based implementation</a:t>
            </a:r>
          </a:p>
          <a:p>
            <a:pPr lvl="0"/>
            <a:r>
              <a:rPr lang="en-IN" dirty="0"/>
              <a:t>Machine learning libraries: Pandas, NumPy, Scikit-learn</a:t>
            </a:r>
          </a:p>
          <a:p>
            <a:pPr lvl="0"/>
            <a:r>
              <a:rPr lang="en-IN" dirty="0"/>
              <a:t>ANN can be implemented using TensorFlow/</a:t>
            </a:r>
            <a:r>
              <a:rPr lang="en-IN" dirty="0" err="1"/>
              <a:t>Keras</a:t>
            </a:r>
            <a:endParaRPr lang="en-IN" dirty="0"/>
          </a:p>
          <a:p>
            <a:pPr lvl="0"/>
            <a:r>
              <a:rPr lang="en-IN" dirty="0"/>
              <a:t>Data visualization using Matplotlib/Seaborn</a:t>
            </a:r>
          </a:p>
          <a:p>
            <a:pPr lvl="0"/>
            <a:r>
              <a:rPr lang="en-IN" dirty="0"/>
              <a:t>Interactive dashboard using </a:t>
            </a:r>
            <a:r>
              <a:rPr lang="en-IN" dirty="0" err="1"/>
              <a:t>Streamlit</a:t>
            </a:r>
            <a:endParaRPr lang="en-IN" dirty="0"/>
          </a:p>
          <a:p>
            <a:r>
              <a:rPr lang="en-IN" b="1" dirty="0"/>
              <a:t>2. Dataset Feasibility</a:t>
            </a:r>
          </a:p>
          <a:p>
            <a:pPr lvl="0"/>
            <a:r>
              <a:rPr lang="en-IN" dirty="0"/>
              <a:t>Structured student performance dataset</a:t>
            </a:r>
          </a:p>
          <a:p>
            <a:pPr lvl="0"/>
            <a:r>
              <a:rPr lang="en-IN" dirty="0"/>
              <a:t>Contains academic, demographic, and </a:t>
            </a:r>
            <a:r>
              <a:rPr lang="en-IN" dirty="0" err="1"/>
              <a:t>behavioral</a:t>
            </a:r>
            <a:r>
              <a:rPr lang="en-IN" dirty="0"/>
              <a:t> attributes</a:t>
            </a:r>
          </a:p>
          <a:p>
            <a:pPr lvl="0"/>
            <a:r>
              <a:rPr lang="en-IN" dirty="0"/>
              <a:t>Suitable for classification and analysis</a:t>
            </a:r>
          </a:p>
          <a:p>
            <a:pPr lvl="0"/>
            <a:r>
              <a:rPr lang="en-IN" dirty="0"/>
              <a:t>Data can be </a:t>
            </a:r>
            <a:r>
              <a:rPr lang="en-IN" dirty="0" err="1"/>
              <a:t>preprocessed</a:t>
            </a:r>
            <a:r>
              <a:rPr lang="en-IN" dirty="0"/>
              <a:t> and divided into training and testing sets</a:t>
            </a:r>
          </a:p>
          <a:p>
            <a:r>
              <a:rPr lang="en-IN" b="1" dirty="0"/>
              <a:t>3. Cost Feasibility</a:t>
            </a:r>
          </a:p>
          <a:p>
            <a:pPr lvl="0"/>
            <a:r>
              <a:rPr lang="en-IN" dirty="0"/>
              <a:t>Uses open-source software and libraries</a:t>
            </a:r>
          </a:p>
          <a:p>
            <a:pPr lvl="0"/>
            <a:r>
              <a:rPr lang="en-IN" dirty="0"/>
              <a:t>No expensive hardware required</a:t>
            </a:r>
          </a:p>
          <a:p>
            <a:pPr lvl="0"/>
            <a:r>
              <a:rPr lang="en-IN" dirty="0"/>
              <a:t>Can be developed using a standard computer</a:t>
            </a:r>
          </a:p>
          <a:p>
            <a:pPr lvl="0"/>
            <a:r>
              <a:rPr lang="en-IN" dirty="0"/>
              <a:t>Low development cost</a:t>
            </a:r>
          </a:p>
          <a:p>
            <a:r>
              <a:rPr lang="en-IN" b="1" dirty="0"/>
              <a:t>4. Operational Feasibility</a:t>
            </a:r>
          </a:p>
          <a:p>
            <a:pPr lvl="0"/>
            <a:r>
              <a:rPr lang="en-IN" dirty="0"/>
              <a:t>Simple workflow: data input → prediction → evaluation</a:t>
            </a:r>
          </a:p>
          <a:p>
            <a:pPr lvl="0"/>
            <a:r>
              <a:rPr lang="en-IN" dirty="0"/>
              <a:t>Results can be presented through an interactive dashboard</a:t>
            </a:r>
          </a:p>
          <a:p>
            <a:pPr lvl="0"/>
            <a:r>
              <a:rPr lang="en-IN" dirty="0"/>
              <a:t>Can support educational performance analysis and decision-making</a:t>
            </a:r>
          </a:p>
          <a:p>
            <a:endParaRPr lang="en-US" dirty="0"/>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TotalTime>
  <Words>1136</Words>
  <Application>Microsoft Office PowerPoint</Application>
  <PresentationFormat>Widescreen</PresentationFormat>
  <Paragraphs>164</Paragraphs>
  <Slides>11</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Kappara Sindhura</cp:lastModifiedBy>
  <cp:revision>36</cp:revision>
  <dcterms:created xsi:type="dcterms:W3CDTF">2026-08-08T06:33:56Z</dcterms:created>
  <dcterms:modified xsi:type="dcterms:W3CDTF">2026-09-18T03:36:20Z</dcterms:modified>
</cp:coreProperties>
</file>